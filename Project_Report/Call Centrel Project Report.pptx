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DD2"/>
    <a:srgbClr val="E7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7F1CCE-3E7B-4813-9B9B-CAA43FEFDA9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8C414-EB4D-4917-AC1A-92F83275A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0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8C414-EB4D-4917-AC1A-92F83275AB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72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8C414-EB4D-4917-AC1A-92F83275AB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66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09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8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5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9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1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5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8769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39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900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0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4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7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97A6999-669C-46A6-9EAE-80AF25A7C08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BBED8D2-B27A-4FC7-BC97-28D690A4E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8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ohammadrahil14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rahilshaikh618/Call-Centre-Insights-Dashboard---Excel-Project" TargetMode="External"/><Relationship Id="rId4" Type="http://schemas.openxmlformats.org/officeDocument/2006/relationships/hyperlink" Target="https://github.com/rahilshaikh618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C3B9-846A-EB3B-8462-F23178A1A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50" y="638551"/>
            <a:ext cx="10908021" cy="194733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☎️ </a:t>
            </a:r>
            <a:r>
              <a:rPr lang="en-US"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Call Centre Insights Dashboard Excel Project</a:t>
            </a:r>
            <a:br>
              <a:rPr lang="en-US" sz="4000" dirty="0">
                <a:latin typeface="Algerian" panose="04020705040A02060702" pitchFamily="82" charset="0"/>
              </a:rPr>
            </a:b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2FFB9F-8065-C16C-F6BE-328C56AC1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697" y="2964154"/>
            <a:ext cx="8408605" cy="118506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3800" dirty="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PREPARED, ANALYZED AND PRESENTED BY:</a:t>
            </a:r>
          </a:p>
          <a:p>
            <a:pPr algn="ctr"/>
            <a:r>
              <a:rPr lang="en-US" sz="3800" dirty="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MOHD RAHIL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5F6DD-42C2-1942-5E0D-B5FF354AED90}"/>
              </a:ext>
            </a:extLst>
          </p:cNvPr>
          <p:cNvSpPr txBox="1"/>
          <p:nvPr/>
        </p:nvSpPr>
        <p:spPr>
          <a:xfrm>
            <a:off x="4313903" y="5249011"/>
            <a:ext cx="356419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CONNECT ME ON:</a:t>
            </a: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LINKDIN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GITHUB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Project Link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AutoShape 4" descr="Image result for linkdin logo">
            <a:extLst>
              <a:ext uri="{FF2B5EF4-FFF2-40B4-BE49-F238E27FC236}">
                <a16:creationId xmlns:a16="http://schemas.microsoft.com/office/drawing/2014/main" id="{3D30C538-1F82-9CCD-AD49-D38FCE33E6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2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1B01-126D-8A90-5A76-5D60FFEB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05" y="1984481"/>
            <a:ext cx="10436073" cy="3551080"/>
          </a:xfrm>
        </p:spPr>
        <p:txBody>
          <a:bodyPr>
            <a:noAutofit/>
          </a:bodyPr>
          <a:lstStyle/>
          <a:p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</a:t>
            </a:r>
            <a:r>
              <a:rPr lang="en-US" sz="2400" b="1" cap="none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report - 2025</a:t>
            </a: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presents a detailed performance analysis of all representatives and overall call operations.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interactive dashboard provides insights into </a:t>
            </a: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volume, revenue, duration, ratings, and customer satisfaction</a:t>
            </a: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better decision-making and workforce optimization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5139-CBDF-75DE-9A26-9AC352C2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375" y="1052052"/>
            <a:ext cx="6007510" cy="1091379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92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B8C2-0386-999D-1FC4-4BD6512E8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50" y="7293078"/>
            <a:ext cx="10318085" cy="4247535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BC1B8-0060-D627-3477-CE9216922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649" y="725129"/>
            <a:ext cx="5344702" cy="13199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Key Highlights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E2274F-E954-112F-557C-F3325F91D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837822"/>
              </p:ext>
            </p:extLst>
          </p:nvPr>
        </p:nvGraphicFramePr>
        <p:xfrm>
          <a:off x="1487130" y="2203757"/>
          <a:ext cx="9217740" cy="40495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7398">
                  <a:extLst>
                    <a:ext uri="{9D8B030D-6E8A-4147-A177-3AD203B41FA5}">
                      <a16:colId xmlns:a16="http://schemas.microsoft.com/office/drawing/2014/main" val="3380484937"/>
                    </a:ext>
                  </a:extLst>
                </a:gridCol>
                <a:gridCol w="3225171">
                  <a:extLst>
                    <a:ext uri="{9D8B030D-6E8A-4147-A177-3AD203B41FA5}">
                      <a16:colId xmlns:a16="http://schemas.microsoft.com/office/drawing/2014/main" val="2248495023"/>
                    </a:ext>
                  </a:extLst>
                </a:gridCol>
                <a:gridCol w="3225171">
                  <a:extLst>
                    <a:ext uri="{9D8B030D-6E8A-4147-A177-3AD203B41FA5}">
                      <a16:colId xmlns:a16="http://schemas.microsoft.com/office/drawing/2014/main" val="3509826644"/>
                    </a:ext>
                  </a:extLst>
                </a:gridCol>
              </a:tblGrid>
              <a:tr h="4067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E7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372486"/>
                  </a:ext>
                </a:extLst>
              </a:tr>
              <a:tr h="808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Calls Handled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performance across all representatives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3421622"/>
                  </a:ext>
                </a:extLst>
              </a:tr>
              <a:tr h="808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 Generated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$96,623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total monetary value from calls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3161394"/>
                  </a:ext>
                </a:extLst>
              </a:tr>
              <a:tr h="406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Call Duration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89,850 mins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workload distribution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53021784"/>
                  </a:ext>
                </a:extLst>
              </a:tr>
              <a:tr h="808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Rating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E7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 / 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Suggests moderate customer satisfaction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5871378"/>
                  </a:ext>
                </a:extLst>
              </a:tr>
              <a:tr h="8089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 Callers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307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~30% of total callers rated their experience as “Happy”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911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13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E3EF-4141-A5FF-2756-DF878A2B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217" y="544596"/>
            <a:ext cx="6583566" cy="1507067"/>
          </a:xfrm>
        </p:spPr>
        <p:txBody>
          <a:bodyPr/>
          <a:lstStyle/>
          <a:p>
            <a:pPr algn="ctr"/>
            <a:r>
              <a:rPr lang="en-US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US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Call Trends</a:t>
            </a:r>
            <a:endParaRPr lang="en-US" cap="none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0518F-6126-FAF8-9C38-279918D5B360}"/>
              </a:ext>
            </a:extLst>
          </p:cNvPr>
          <p:cNvSpPr txBox="1"/>
          <p:nvPr/>
        </p:nvSpPr>
        <p:spPr>
          <a:xfrm>
            <a:off x="1204451" y="2458065"/>
            <a:ext cx="97830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performance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observed in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and November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seasonal demand spikes.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Mid-year dip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(May–August) likely due to reduced call volume or resource availability.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line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highlights a cyclical pattern that can guide staffing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56263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48CA-2A7F-C45A-1443-0C996F9E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124304"/>
            <a:ext cx="8534400" cy="1507067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Day-wise Distribution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69FE1-9825-9637-7DD1-3BA34895918F}"/>
              </a:ext>
            </a:extLst>
          </p:cNvPr>
          <p:cNvSpPr txBox="1"/>
          <p:nvPr/>
        </p:nvSpPr>
        <p:spPr>
          <a:xfrm>
            <a:off x="1189702" y="2631371"/>
            <a:ext cx="10058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“Total Calls by Day” chart shows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call handling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the week.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variation between weekdays and weekends suggests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performance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4896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6BDF-DADD-FF27-D1B3-C0C634B1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055874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44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👩‍💼👨‍💼 3. Gender-based Insights</a:t>
            </a:r>
            <a:br>
              <a:rPr lang="en-US" sz="40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2DE7F-37E1-9C4B-C50A-8882CC2EB45D}"/>
              </a:ext>
            </a:extLst>
          </p:cNvPr>
          <p:cNvSpPr txBox="1"/>
          <p:nvPr/>
        </p:nvSpPr>
        <p:spPr>
          <a:xfrm>
            <a:off x="1302773" y="2838244"/>
            <a:ext cx="98814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Female vs Male callers show almost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participation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well-balanced customer demographic.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Cleveland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in call volume among female callers, while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Columbus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a higher male-caller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08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14AC-4A7B-CE4A-1588-22E26898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060" y="977216"/>
            <a:ext cx="9157879" cy="1507067"/>
          </a:xfrm>
        </p:spPr>
        <p:txBody>
          <a:bodyPr>
            <a:normAutofit fontScale="90000"/>
          </a:bodyPr>
          <a:lstStyle/>
          <a:p>
            <a:r>
              <a:rPr lang="en-US" sz="4400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🌟 </a:t>
            </a:r>
            <a:r>
              <a:rPr lang="en-US" sz="44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Customer Ratings &amp; Satisfaction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</a:rPr>
            </a:b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3D9F6-CA04-FF29-C7CC-F7E1F7DC6D1D}"/>
              </a:ext>
            </a:extLst>
          </p:cNvPr>
          <p:cNvSpPr txBox="1"/>
          <p:nvPr/>
        </p:nvSpPr>
        <p:spPr>
          <a:xfrm>
            <a:off x="1966451" y="2464464"/>
            <a:ext cx="90751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skews toward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4-star and 5-star reviews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engagement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ratings (&lt;3) are limited, showing that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are satisfied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call handling quality.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 3.9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suggests room for improvement in issue resolution and follow-up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67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6B7573-CE48-E8CE-EF7B-BCAADD5FCD7E}"/>
              </a:ext>
            </a:extLst>
          </p:cNvPr>
          <p:cNvSpPr txBox="1">
            <a:spLocks/>
          </p:cNvSpPr>
          <p:nvPr/>
        </p:nvSpPr>
        <p:spPr>
          <a:xfrm>
            <a:off x="664547" y="483422"/>
            <a:ext cx="10386911" cy="96028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 5. Representative-wise Performance Analysis</a:t>
            </a:r>
            <a:endParaRPr lang="en-US" sz="40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A8F5D2-4678-2DE5-99E0-7687B07C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61315"/>
              </p:ext>
            </p:extLst>
          </p:nvPr>
        </p:nvGraphicFramePr>
        <p:xfrm>
          <a:off x="664547" y="1645262"/>
          <a:ext cx="10609008" cy="47293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8567">
                  <a:extLst>
                    <a:ext uri="{9D8B030D-6E8A-4147-A177-3AD203B41FA5}">
                      <a16:colId xmlns:a16="http://schemas.microsoft.com/office/drawing/2014/main" val="2179761747"/>
                    </a:ext>
                  </a:extLst>
                </a:gridCol>
                <a:gridCol w="827308">
                  <a:extLst>
                    <a:ext uri="{9D8B030D-6E8A-4147-A177-3AD203B41FA5}">
                      <a16:colId xmlns:a16="http://schemas.microsoft.com/office/drawing/2014/main" val="1460125054"/>
                    </a:ext>
                  </a:extLst>
                </a:gridCol>
                <a:gridCol w="1098060">
                  <a:extLst>
                    <a:ext uri="{9D8B030D-6E8A-4147-A177-3AD203B41FA5}">
                      <a16:colId xmlns:a16="http://schemas.microsoft.com/office/drawing/2014/main" val="4257182022"/>
                    </a:ext>
                  </a:extLst>
                </a:gridCol>
                <a:gridCol w="1263519">
                  <a:extLst>
                    <a:ext uri="{9D8B030D-6E8A-4147-A177-3AD203B41FA5}">
                      <a16:colId xmlns:a16="http://schemas.microsoft.com/office/drawing/2014/main" val="2470245264"/>
                    </a:ext>
                  </a:extLst>
                </a:gridCol>
                <a:gridCol w="1233437">
                  <a:extLst>
                    <a:ext uri="{9D8B030D-6E8A-4147-A177-3AD203B41FA5}">
                      <a16:colId xmlns:a16="http://schemas.microsoft.com/office/drawing/2014/main" val="2243070128"/>
                    </a:ext>
                  </a:extLst>
                </a:gridCol>
                <a:gridCol w="1459065">
                  <a:extLst>
                    <a:ext uri="{9D8B030D-6E8A-4147-A177-3AD203B41FA5}">
                      <a16:colId xmlns:a16="http://schemas.microsoft.com/office/drawing/2014/main" val="637255596"/>
                    </a:ext>
                  </a:extLst>
                </a:gridCol>
                <a:gridCol w="3249052">
                  <a:extLst>
                    <a:ext uri="{9D8B030D-6E8A-4147-A177-3AD203B41FA5}">
                      <a16:colId xmlns:a16="http://schemas.microsoft.com/office/drawing/2014/main" val="1230992822"/>
                    </a:ext>
                  </a:extLst>
                </a:gridCol>
              </a:tblGrid>
              <a:tr h="667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Representative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Calls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($)</a:t>
                      </a:r>
                      <a:endParaRPr lang="en-US" sz="1400" kern="1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of Calls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 Rank</a:t>
                      </a:r>
                      <a:endParaRPr lang="en-US" sz="1400" kern="1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Rank</a:t>
                      </a:r>
                      <a:endParaRPr lang="en-US" sz="1400" kern="1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Insight</a:t>
                      </a:r>
                      <a:endParaRPr lang="en-US" sz="1400" kern="1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94931"/>
                  </a:ext>
                </a:extLst>
              </a:tr>
              <a:tr h="673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R01</a:t>
                      </a:r>
                      <a:endParaRPr lang="en-US" sz="14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18,415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contribution; steady but can improve engagement.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778903"/>
                  </a:ext>
                </a:extLst>
              </a:tr>
              <a:tr h="793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R02</a:t>
                      </a:r>
                      <a:endParaRPr lang="en-US" sz="14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218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20,581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22%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🥇 1st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🥈 2nd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performer by call volume and consistent revenue.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773188"/>
                  </a:ext>
                </a:extLst>
              </a:tr>
              <a:tr h="8249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R03</a:t>
                      </a:r>
                      <a:endParaRPr lang="en-US" sz="14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20,872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21%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🥈 2nd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🥇 1st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revenue generator; strong customer retention.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03030"/>
                  </a:ext>
                </a:extLst>
              </a:tr>
              <a:tr h="76145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R04</a:t>
                      </a:r>
                      <a:endParaRPr lang="en-US" sz="14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16,651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19%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in both metrics; needs training and optimization.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417320"/>
                  </a:ext>
                </a:extLst>
              </a:tr>
              <a:tr h="10093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R05</a:t>
                      </a:r>
                      <a:endParaRPr lang="en-US" sz="1400" kern="1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20,104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performance; potential to lead with slight push.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4" marR="6354" marT="6354" marB="6354" anchor="ctr">
                    <a:solidFill>
                      <a:srgbClr val="CC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951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67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BA74-4650-53F1-5B0E-D4B52D64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131" y="1733754"/>
            <a:ext cx="10455736" cy="4286864"/>
          </a:xfrm>
        </p:spPr>
        <p:txBody>
          <a:bodyPr>
            <a:noAutofit/>
          </a:bodyPr>
          <a:lstStyle/>
          <a:p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R01</a:t>
            </a:r>
            <a:b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Calls: 189 | Amount: $18.4K | Rank: 4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Consistent performance but slightly below team average. Needs improvement in customer conversion and follow-ups.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R02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Calls: 218 | Amount: $20.6K | Rank: 1 (calls), 2 (amount)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 activity and efficiency; potential team lead. Excellent handling volume with strong satisfaction scores</a:t>
            </a: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cap="none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2E704A-7419-BDA1-179B-225107EE2D84}"/>
              </a:ext>
            </a:extLst>
          </p:cNvPr>
          <p:cNvSpPr txBox="1">
            <a:spLocks/>
          </p:cNvSpPr>
          <p:nvPr/>
        </p:nvSpPr>
        <p:spPr>
          <a:xfrm>
            <a:off x="1517060" y="200468"/>
            <a:ext cx="9157879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💬 6. Representative-wise Observations</a:t>
            </a: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0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6DAE-8100-1904-9E0D-D134D731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38" y="449825"/>
            <a:ext cx="9905130" cy="5958349"/>
          </a:xfrm>
        </p:spPr>
        <p:txBody>
          <a:bodyPr>
            <a:noAutofit/>
          </a:bodyPr>
          <a:lstStyle/>
          <a:p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R03</a:t>
            </a:r>
            <a:b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Calls: 207 | Amount: $20.9K | Rank: 2 (calls), 1 (amount)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Exceptional at monetization and conversion rate. Should share best practices across the team.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R04</a:t>
            </a:r>
            <a:b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Calls: 186 | Amount: $16.7K | Rank: 5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 in both calls and revenue. May need additional support or training.</a:t>
            </a: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R05</a:t>
            </a:r>
            <a:b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Calls: 200 | Amount: $20.1K | Rank: 3</a:t>
            </a:r>
            <a:b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Balanced performance, a steady contributor with room to scale call efficiency.</a:t>
            </a:r>
            <a:br>
              <a:rPr lang="en-US" sz="20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cap="none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2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F6FCF-24C4-097D-7EE3-9D465C8C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20" y="1474839"/>
            <a:ext cx="10903973" cy="3755924"/>
          </a:xfrm>
        </p:spPr>
        <p:txBody>
          <a:bodyPr>
            <a:normAutofit/>
          </a:bodyPr>
          <a:lstStyle/>
          <a:p>
            <a:pPr marR="0">
              <a:lnSpc>
                <a:spcPct val="115000"/>
              </a:lnSpc>
              <a:spcAft>
                <a:spcPts val="800"/>
              </a:spcAft>
            </a:pPr>
            <a:b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Top-performing cities:</a:t>
            </a:r>
            <a:br>
              <a:rPr lang="en-US" sz="2400" b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b="1" i="1" kern="1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b="1" i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incinnati</a:t>
            </a: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strong revenue generation, especially in early-year months.</a:t>
            </a:r>
            <a:b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b="1" i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Cleveland</a:t>
            </a:r>
            <a:r>
              <a:rPr lang="en-US" sz="2400" b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consistent caller satisfaction and repeat engagement.</a:t>
            </a:r>
            <a:b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2400" b="1" i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Columbus</a:t>
            </a:r>
            <a:r>
              <a:rPr lang="en-US" sz="2400" b="1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emerging growth potential with a high share of male callers.</a:t>
            </a:r>
            <a:br>
              <a:rPr lang="en-US" sz="2400" kern="100" cap="none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78C3A9-CAAE-2F82-4B5C-9897C61F81EF}"/>
              </a:ext>
            </a:extLst>
          </p:cNvPr>
          <p:cNvSpPr txBox="1">
            <a:spLocks/>
          </p:cNvSpPr>
          <p:nvPr/>
        </p:nvSpPr>
        <p:spPr>
          <a:xfrm>
            <a:off x="2877381" y="110067"/>
            <a:ext cx="6437237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7. Regional Insights</a:t>
            </a: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05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E67D-51DD-D038-658E-3C3DE1A4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412" y="1258529"/>
            <a:ext cx="10599174" cy="5234038"/>
          </a:xfrm>
        </p:spPr>
        <p:txBody>
          <a:bodyPr>
            <a:normAutofit fontScale="90000"/>
          </a:bodyPr>
          <a:lstStyle/>
          <a:p>
            <a:b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7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 working: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Consistent overall rating (3.9) and positive satisfaction levels.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Balanced gender ratio and steady call distribution across weekdays.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R02 and R03 emerging as key performance drivers.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 What Needs Improvement: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R04’s performance needs process reinforcement and customer engagement support.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Enhance overall satisfaction from 3.9 → target 4.5 through feedback loops and training.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Introduce AI-driven call routing to balance workload dynamically.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💼 Strategic Recommendation: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Implement incentive-based recognition for top performers.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Use data-driven performance dashboards for real-time monitoring.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	Develop customer retention programs for low-rated calls.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cap="none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57D3A1-00B3-180F-E112-845DF619DDFE}"/>
              </a:ext>
            </a:extLst>
          </p:cNvPr>
          <p:cNvSpPr txBox="1">
            <a:spLocks/>
          </p:cNvSpPr>
          <p:nvPr/>
        </p:nvSpPr>
        <p:spPr>
          <a:xfrm>
            <a:off x="1925387" y="88490"/>
            <a:ext cx="8341225" cy="133145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8. Summary &amp; recommendations</a:t>
            </a: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79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6044-0AC8-6964-63E6-DBBF4A9D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093" y="1789472"/>
            <a:ext cx="9747814" cy="4047612"/>
          </a:xfrm>
        </p:spPr>
        <p:txBody>
          <a:bodyPr>
            <a:noAutofit/>
          </a:bodyPr>
          <a:lstStyle/>
          <a:p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The </a:t>
            </a: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Centre Report 2025</a:t>
            </a: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highlights strong overall team performance, consistent engagement, and reliable service levels.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Representatives </a:t>
            </a:r>
            <a:r>
              <a:rPr lang="en-US" sz="2400" b="1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R02 and R03</a:t>
            </a:r>
            <a: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stand out as top contributors, while a targeted focus on R04 can elevate team efficiency and customer experience even further.</a:t>
            </a:r>
            <a:br>
              <a:rPr lang="en-US" sz="2400" cap="none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cap="none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CE62FC-1DAD-F4AE-854E-2F6712CD5BE6}"/>
              </a:ext>
            </a:extLst>
          </p:cNvPr>
          <p:cNvSpPr txBox="1">
            <a:spLocks/>
          </p:cNvSpPr>
          <p:nvPr/>
        </p:nvSpPr>
        <p:spPr>
          <a:xfrm>
            <a:off x="4225848" y="778660"/>
            <a:ext cx="3740304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cap="none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✨ Conclusion</a:t>
            </a: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2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5A85-3C38-269D-662E-8CD35332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511048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1560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92</TotalTime>
  <Words>859</Words>
  <Application>Microsoft Office PowerPoint</Application>
  <PresentationFormat>Widescreen</PresentationFormat>
  <Paragraphs>104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Century Gothic</vt:lpstr>
      <vt:lpstr>Times New Roman</vt:lpstr>
      <vt:lpstr>Wingdings 3</vt:lpstr>
      <vt:lpstr>Slice</vt:lpstr>
      <vt:lpstr>☎️ Call Centre Insights Dashboard Excel Project </vt:lpstr>
      <vt:lpstr>The call centre report - 2025 presents a detailed performance analysis of all representatives and overall call operations.  This interactive dashboard provides insights into call volume, revenue, duration, ratings, and customer satisfaction, enabling better decision-making and workforce optimization. </vt:lpstr>
      <vt:lpstr>PowerPoint Presentation</vt:lpstr>
      <vt:lpstr>📈 1. Call Trends</vt:lpstr>
      <vt:lpstr>📊 2. Day-wise Distribution </vt:lpstr>
      <vt:lpstr>👩‍💼👨‍💼 3. Gender-based Insights </vt:lpstr>
      <vt:lpstr>🌟 4. Customer Ratings &amp; Satisfaction </vt:lpstr>
      <vt:lpstr>PowerPoint Presentation</vt:lpstr>
      <vt:lpstr>🔹 R01  Calls: 189 | Amount: $18.4K | Rank: 4 Observation: Consistent performance but slightly below team average. Needs improvement in customer conversion and follow-ups.  🔹 R02 Calls: 218 | Amount: $20.6K | Rank: 1 (calls), 2 (amount) Observation: High activity and efficiency; potential team lead. Excellent handling volume with strong satisfaction scores. </vt:lpstr>
      <vt:lpstr>🔹 R03 Calls: 207 | Amount: $20.9K | Rank: 2 (calls), 1 (amount) Observation: Exceptional at monetization and conversion rate. Should share best practices across the team.   🔹 R04 Calls: 186 | Amount: $16.7K | Rank: 5 Underperforming in both calls and revenue. May need additional support or training.   🔹 R05 Calls: 200 | Amount: $20.1K | Rank: 3 Observation: Balanced performance, a steady contributor with room to scale call efficiency. </vt:lpstr>
      <vt:lpstr> Top-performing cities:  1. Cincinnati: strong revenue generation, especially in early-year months. 2. Cleveland: consistent caller satisfaction and repeat engagement. 3. Columbus: emerging growth potential with a high share of male callers. </vt:lpstr>
      <vt:lpstr> ✅ What’s working: 1. Consistent overall rating (3.9) and positive satisfaction levels. 2. Balanced gender ratio and steady call distribution across weekdays. 3. R02 and R03 emerging as key performance drivers.  ⚠️ What Needs Improvement: • R04’s performance needs process reinforcement and customer engagement support. • Enhance overall satisfaction from 3.9 → target 4.5 through feedback loops and training. • Introduce AI-driven call routing to balance workload dynamically.  💼 Strategic Recommendation: • Implement incentive-based recognition for top performers. • Use data-driven performance dashboards for real-time monitoring. • Develop customer retention programs for low-rated calls.  </vt:lpstr>
      <vt:lpstr>1. The Call Centre Report 2025 highlights strong overall team performance, consistent engagement, and reliable service levels.  2. Representatives R02 and R03 stand out as top contributors, while a targeted focus on R04 can elevate team efficiency and customer experience even further.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Rahil</dc:creator>
  <cp:lastModifiedBy>Mohd Rahil</cp:lastModifiedBy>
  <cp:revision>1</cp:revision>
  <dcterms:created xsi:type="dcterms:W3CDTF">2025-11-11T10:39:07Z</dcterms:created>
  <dcterms:modified xsi:type="dcterms:W3CDTF">2025-11-11T12:11:36Z</dcterms:modified>
</cp:coreProperties>
</file>